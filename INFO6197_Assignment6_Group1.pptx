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5545"/>
  </p:normalViewPr>
  <p:slideViewPr>
    <p:cSldViewPr snapToGrid="0" snapToObjects="1">
      <p:cViewPr varScale="1">
        <p:scale>
          <a:sx n="65" d="100"/>
          <a:sy n="65" d="100"/>
        </p:scale>
        <p:origin x="102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B. Abushammala" userId="84b0bfea6c646681" providerId="LiveId" clId="{197636F3-FA3A-4558-ABD0-050356B82144}"/>
    <pc:docChg chg="custSel modSld">
      <pc:chgData name="Mohammed B. Abushammala" userId="84b0bfea6c646681" providerId="LiveId" clId="{197636F3-FA3A-4558-ABD0-050356B82144}" dt="2026-08-15T03:43:19.008" v="0" actId="478"/>
      <pc:docMkLst>
        <pc:docMk/>
      </pc:docMkLst>
      <pc:sldChg chg="delSp mod">
        <pc:chgData name="Mohammed B. Abushammala" userId="84b0bfea6c646681" providerId="LiveId" clId="{197636F3-FA3A-4558-ABD0-050356B82144}" dt="2026-08-15T03:43:19.008" v="0" actId="478"/>
        <pc:sldMkLst>
          <pc:docMk/>
          <pc:sldMk cId="0" sldId="256"/>
        </pc:sldMkLst>
        <pc:spChg chg="del">
          <ac:chgData name="Mohammed B. Abushammala" userId="84b0bfea6c646681" providerId="LiveId" clId="{197636F3-FA3A-4558-ABD0-050356B82144}" dt="2026-08-15T03:43:19.008" v="0" actId="478"/>
          <ac:spMkLst>
            <pc:docMk/>
            <pc:sldMk cId="0" sldId="256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65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3474720" cy="347472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502920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7772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979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8961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HEALTH NETWORK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Patients?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85800" y="2834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FE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Segmenting 150,249 Patients with K-Means Clustering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85800" y="3703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patient data into targeted strategies for engagement, care coordination, and better outcomes.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3232" y="4892040"/>
            <a:ext cx="40233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5029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r>
              <a:rPr lang="en-US" sz="1500" dirty="0">
                <a:solidFill>
                  <a:srgbClr val="9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Data Analytics  ·  Healthcare Industry  ·  Assignment 6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" y="58338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FA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Riverside Health Network leadership team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One-size-fits-all care is not working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75488" cy="475488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1723827"/>
            <a:ext cx="228234" cy="2282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453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readmission rates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88720" y="18379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return to hospital more often than expected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79192"/>
            <a:ext cx="475488" cy="475488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2802819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624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healthcare costs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188720" y="29169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spread evenly instead of where they matter most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758184"/>
            <a:ext cx="475488" cy="475488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3881811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703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appointments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188720" y="39959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no-show rates disrupt treatment plans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837176"/>
            <a:ext cx="475488" cy="475488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7" y="4960803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7823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preventive care uptake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188720" y="5074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patients join screening and wellness programs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629400" y="1554480"/>
            <a:ext cx="4983480" cy="4480560"/>
          </a:xfrm>
          <a:prstGeom prst="roundRect">
            <a:avLst>
              <a:gd name="adj" fmla="val 2449"/>
            </a:avLst>
          </a:prstGeom>
          <a:solidFill>
            <a:srgbClr val="043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99516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995160" y="2176272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K-Means clustering to segment 150,249 patients into meaningful groups based on demographics, utilization, clinical complexity, lifestyle, engagement, and cost.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9516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RHN can: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178040" y="3822192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engagement where it is weakest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readmissions and length of stay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resources to the right patients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clinical decisions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comprehensive patient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150,249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records, one per patient, spanning demographics, utilization, clinical history, admissions, costs, engagement, and lifestyle.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variables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BMI  ·  previous admissions, medications, procedures, ICU, surgery  ·  treatment &amp; out-of-pocket costs  ·  chronic disease, comorbidities, mortality risk  ·  adherence, follow-up compliance  ·  diet, alcohol, smoking, activity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2200" y="1572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&amp; preparation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20116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21854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records or Patient IDs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285292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2761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 honestly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30266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37,704 missing Alcohol_Consumption kept as “Unknown” to avoid imputation bias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36941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36027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validation checks passed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8679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invalid ages, BMI, dates, or negative costs / admissions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45354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44439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outliers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92240" y="4709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with the IQR method; no treatment required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53766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92240" y="5285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features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92240" y="55504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so every variable weighs equally in Euclidean distance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features that describe patient behaviour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470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938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the patient's last admission. Lower = more recent contact with care.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645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18470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39512" y="1938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26864" y="251460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date minus admission date. Longer stays signal intensive treatment.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645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21624" y="18470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61704" y="1938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Utilization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49056" y="251460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standardized admissions, medications, procedures, ICU, and surgery.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1330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224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480060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medication adherence, follow-up compliance, and diet score (0–100).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0832" y="3931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99432" y="41330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39512" y="4224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Score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26864" y="480060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blend of exercise frequency, sleep hours, and diet quality.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93024" y="3931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21624" y="413308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61704" y="4224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Complexity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49056" y="480060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blend of comorbidities, chronic disease, and mortality risk.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richer inputs → clearer clusters: related variables were combined so the model sees behaviour, not noise.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K-Means, and why K = 4</a:t>
            </a:r>
            <a:endParaRPr lang="en-US" sz="3000" dirty="0"/>
          </a:p>
        </p:txBody>
      </p:sp>
      <p:pic>
        <p:nvPicPr>
          <p:cNvPr id="4" name="Image 0" descr="fig_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892040" cy="3170473"/>
          </a:xfrm>
          <a:prstGeom prst="rect">
            <a:avLst/>
          </a:prstGeom>
        </p:spPr>
      </p:pic>
      <p:pic>
        <p:nvPicPr>
          <p:cNvPr id="5" name="Image 1" descr="fig_s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463040"/>
            <a:ext cx="4892040" cy="322906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02920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77240" y="51937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77240" y="550468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gains flatten after K = 4, so extra clusters add little.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325112" y="502920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553712" y="51937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analysis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53712" y="550468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at K = 2 (0.138); K = 4 close behind (0.118).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01584" y="502920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043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330184" y="51937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K = 4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330184" y="550468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because it provides more meaningful patient segments with a silhouette score close to K = 2.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VISUALIZATION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confirms four distinguishable groups</a:t>
            </a:r>
            <a:endParaRPr lang="en-US" sz="3000" dirty="0"/>
          </a:p>
        </p:txBody>
      </p:sp>
      <p:pic>
        <p:nvPicPr>
          <p:cNvPr id="4" name="Image 0" descr="fig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903720" cy="49066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819656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92440" y="1728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 → two components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92440" y="202082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compresses the engineered features so 150k patients fit on one plot.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299008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92440" y="2898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regions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92440" y="319125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occupies its own area of the reduced feature space.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18120" y="416052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92440" y="4069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is expected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92440" y="43616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patients don't fall into perfect boxes; boundaries between groups blur in 2D.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18120" y="534924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46720" y="54864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model found real structure, not random noise.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VISUALIZATION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balanced segments, clearly differentiated</a:t>
            </a:r>
            <a:endParaRPr lang="en-US" sz="3000" dirty="0"/>
          </a:p>
        </p:txBody>
      </p:sp>
      <p:pic>
        <p:nvPicPr>
          <p:cNvPr id="4" name="Image 0" descr="fig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8229600" cy="39756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8280" y="1691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split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235440" y="20116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of visits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score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098280" y="35204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and clinical complexity stay near average for all four groups.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566928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9808" y="5989320"/>
            <a:ext cx="219456" cy="219456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78992" y="5779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78992" y="6035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37,577 patients  ·  25.0%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64992" y="566928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66160" y="5989320"/>
            <a:ext cx="219456" cy="219456"/>
          </a:xfrm>
          <a:prstGeom prst="ellipse">
            <a:avLst/>
          </a:prstGeom>
          <a:solidFill>
            <a:srgbClr val="FF7F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895344" y="5779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95344" y="6035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37,754 patients  ·  25.1%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81344" y="566928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382512" y="5989320"/>
            <a:ext cx="219456" cy="219456"/>
          </a:xfrm>
          <a:prstGeom prst="ellipse">
            <a:avLst/>
          </a:prstGeom>
          <a:solidFill>
            <a:srgbClr val="2CA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711696" y="5779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11696" y="6035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37,208 patients  ·  24.8%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997696" y="566928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198864" y="5989320"/>
            <a:ext cx="219456" cy="219456"/>
          </a:xfrm>
          <a:prstGeom prst="ellipse">
            <a:avLst/>
          </a:prstGeom>
          <a:solidFill>
            <a:srgbClr val="D627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528048" y="57790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528048" y="6035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37,710 patients  ·  25.1%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four patient segments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61488" cy="4434840"/>
          </a:xfrm>
          <a:prstGeom prst="roundRect">
            <a:avLst>
              <a:gd name="adj" fmla="val 3974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20456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37,577 patients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visits, but weak adherence and less healthy habits. In our care, not following the plan.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5303520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5303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Early-intervention target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47288" y="1600200"/>
            <a:ext cx="2761488" cy="4434840"/>
          </a:xfrm>
          <a:prstGeom prst="roundRect">
            <a:avLst>
              <a:gd name="adj" fmla="val 3974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721608" y="1874520"/>
            <a:ext cx="658368" cy="658368"/>
          </a:xfrm>
          <a:prstGeom prst="ellipse">
            <a:avLst/>
          </a:prstGeom>
          <a:solidFill>
            <a:srgbClr val="FF7F0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784" y="2045696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21608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7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721608" y="306324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37,754 patients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721608" y="342900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hospital stays, high engagement, healthy lifestyle. Actively self-managing.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721608" y="5303520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721608" y="5303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well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345936" y="1600200"/>
            <a:ext cx="2761488" cy="4434840"/>
          </a:xfrm>
          <a:prstGeom prst="roundRect">
            <a:avLst>
              <a:gd name="adj" fmla="val 3974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620256" y="1874520"/>
            <a:ext cx="658368" cy="658368"/>
          </a:xfrm>
          <a:prstGeom prst="ellipse">
            <a:avLst/>
          </a:prstGeom>
          <a:solidFill>
            <a:srgbClr val="2CA02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432" y="2045696"/>
            <a:ext cx="316017" cy="31601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0256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620256" y="306324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37,208 patients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620256" y="342900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gap since last visit, low engagement. May delay care until problems escalate.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620256" y="5303520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620256" y="5303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Re-activation target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244584" y="1600200"/>
            <a:ext cx="2761488" cy="4434840"/>
          </a:xfrm>
          <a:prstGeom prst="roundRect">
            <a:avLst>
              <a:gd name="adj" fmla="val 3974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9518904" y="1874520"/>
            <a:ext cx="658368" cy="658368"/>
          </a:xfrm>
          <a:prstGeom prst="ellipse">
            <a:avLst/>
          </a:prstGeom>
          <a:solidFill>
            <a:srgbClr val="D627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0080" y="2045696"/>
            <a:ext cx="316017" cy="31601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518904" y="26974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Stay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9518904" y="306324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37,710 patients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9518904" y="3429000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hospitalizations despite high engagement. Intensive treatment and recovery needs.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9518904" y="5303520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9518904" y="530352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Care-coordination target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RHN can use these segments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36" y="209141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249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&amp; engagement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3364992"/>
            <a:ext cx="1380744" cy="347472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336499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13432" y="3364992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2CA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313432" y="33649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3931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appointment reminders, personalized education, telehealth follow-ups, digital health tools, and preventive campaigns to bring patients back into care.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25112" y="164592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99432" y="1920240"/>
            <a:ext cx="658368" cy="65836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608" y="2091416"/>
            <a:ext cx="316017" cy="3160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99432" y="27249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care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599432" y="3364992"/>
            <a:ext cx="836676" cy="347472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599432" y="3364992"/>
            <a:ext cx="836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99432" y="3931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screenings, wellness assessments, and lifestyle programs that keep low-risk patients low-risk and reduce future utilization.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101584" y="164592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375904" y="1920240"/>
            <a:ext cx="658368" cy="658368"/>
          </a:xfrm>
          <a:prstGeom prst="ellipse">
            <a:avLst/>
          </a:prstGeom>
          <a:solidFill>
            <a:srgbClr val="0435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080" y="2091416"/>
            <a:ext cx="316017" cy="31601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75904" y="27249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coordination &amp; follow-up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375904" y="3364992"/>
            <a:ext cx="992124" cy="347472"/>
          </a:xfrm>
          <a:prstGeom prst="roundRect">
            <a:avLst>
              <a:gd name="adj" fmla="val 50000"/>
            </a:avLst>
          </a:prstGeom>
          <a:solidFill>
            <a:srgbClr val="D627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8375904" y="3364992"/>
            <a:ext cx="9921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Stay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375904" y="393192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discharge planning, rehabilitation services, and post-discharge monitoring to shorten stays and prevent readmission.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tied to measurable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7180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1812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11292840" cy="932688"/>
          </a:xfrm>
          <a:prstGeom prst="roundRect">
            <a:avLst>
              <a:gd name="adj" fmla="val 7843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2029968"/>
            <a:ext cx="201168" cy="201168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19385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71800" y="19385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Reminders, patient education, telehealth follow-ups, digital engagement tools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19385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adherence · fewer missed appointments · improved follow-up rates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" y="3054096"/>
            <a:ext cx="201168" cy="201168"/>
          </a:xfrm>
          <a:prstGeom prst="ellipse">
            <a:avLst/>
          </a:prstGeom>
          <a:solidFill>
            <a:srgbClr val="FF7F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" y="296265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71800" y="296265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screening, wellness assessments, lifestyle promotion programs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296265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outcomes · lower future utilization · fewer preventable complications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11292840" cy="932688"/>
          </a:xfrm>
          <a:prstGeom prst="roundRect">
            <a:avLst>
              <a:gd name="adj" fmla="val 7843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" y="4078224"/>
            <a:ext cx="201168" cy="201168"/>
          </a:xfrm>
          <a:prstGeom prst="ellipse">
            <a:avLst/>
          </a:prstGeom>
          <a:solidFill>
            <a:srgbClr val="2CA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2688" y="398678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971800" y="398678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campaigns, outreach, routine screenings, patient education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18120" y="398678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 · higher engagement · more preventive-care participation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5102352"/>
            <a:ext cx="201168" cy="201168"/>
          </a:xfrm>
          <a:prstGeom prst="ellipse">
            <a:avLst/>
          </a:prstGeom>
          <a:solidFill>
            <a:srgbClr val="D627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32688" y="50109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Stay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971800" y="501091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coordination, discharge planning, rehab, post-discharge monitoring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18120" y="50109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stays · lower readmission risk · more efficient resource use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144768"/>
            <a:ext cx="11109960" cy="512064"/>
          </a:xfrm>
          <a:prstGeom prst="roundRect">
            <a:avLst>
              <a:gd name="adj" fmla="val 17857"/>
            </a:avLst>
          </a:prstGeom>
          <a:solidFill>
            <a:srgbClr val="0435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61447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personalized care delivery, better outcomes, and healthcare resources spent where they change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this model responsibly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safeguards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493776" cy="493776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10" y="2231502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0574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23500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 records; restrict access to authorized staff under healthcare privacy rules.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291840"/>
            <a:ext cx="493776" cy="493776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0" y="3420222"/>
            <a:ext cx="237012" cy="237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2461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decisions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34440" y="353872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inform strategy; clinicians still judge each patient's full history.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4480560"/>
            <a:ext cx="493776" cy="493776"/>
          </a:xfrm>
          <a:prstGeom prst="ellipse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10" y="4608942"/>
            <a:ext cx="237012" cy="2370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4348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monitoring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34440" y="472744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7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access, and missing data can skew clusters; re-validate regularly for fairness.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309360" y="160020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F4F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583680" y="18288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K-Means here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766560" y="228600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roughly spherical clusters; complex healthcare relationships may not fit that shape.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silhouette (0.118) and PCA overlap: segments are useful, not perfectly separated.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algorithms (hierarchical, DBSCAN, GMM) could group patients differently.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organization's data: findings may not generalize to other health systems.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3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457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150,249 records to four segments RHN can act 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engineered features found four balanced, interpretable patient segments.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differ most on recency, length of stay, engagement, and lifestyle.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maps to a concrete strategy: engage, prevent, re-activate, coordinate.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3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59168" y="23042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outreach for Low Engagement and Inactive patients; track no-shows and adherence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3227832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3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9168" y="32004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discharge planning and rehab pathways for Long Stay patients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412394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3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59168" y="40965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and validate clustering quarterly; monitor for drift and bias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5020056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3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59168" y="499262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alternative algorithms and enrich data (e.g., social determinants of health)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5989320"/>
            <a:ext cx="107442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6126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r>
              <a:rPr lang="en-US" sz="1300" dirty="0">
                <a:solidFill>
                  <a:srgbClr val="9F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Group 1  · 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1184</Words>
  <Application>Microsoft Office PowerPoint</Application>
  <PresentationFormat>Widescreen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Mohammed B. Abushammala</cp:lastModifiedBy>
  <cp:revision>3</cp:revision>
  <dcterms:created xsi:type="dcterms:W3CDTF">2026-08-06T14:30:37Z</dcterms:created>
  <dcterms:modified xsi:type="dcterms:W3CDTF">2026-08-15T03:43:21Z</dcterms:modified>
  <cp:category/>
</cp:coreProperties>
</file>